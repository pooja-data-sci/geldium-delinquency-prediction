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62" r:id="rId7"/>
    <p:sldId id="259" r:id="rId4"/>
    <p:sldId id="260" r:id="rId5"/>
    <p:sldId id="261" r:id="rId6"/>
  </p:sldIdLst>
  <p:sldSz cx="9144000" cy="5143500" type="screen16x9"/>
  <p:notesSz cx="6858000" cy="9144000"/>
  <p:embeddedFontLst>
    <p:embeddedFont>
      <p:font typeface="Roboto" panose="02000000000000000000" pitchFamily="2" charset="0"/>
      <p:regular r:id="rId9"/>
      <p:bold r:id="rId10"/>
      <p:italic r:id="rId11"/>
      <p:boldItalic r:id="rId12"/>
    </p:embeddedFont>
    <p:embeddedFont>
      <p:font typeface="Roboto Slab" pitchFamily="2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E584E98-F22C-4E6F-8C55-6CFEC2229C57}">
  <a:tblStyle styleId="{2E584E98-F22C-4E6F-8C55-6CFEC2229C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1408"/>
  </p:normalViewPr>
  <p:slideViewPr>
    <p:cSldViewPr snapToGrid="0">
      <p:cViewPr varScale="1">
        <p:scale>
          <a:sx n="132" d="100"/>
          <a:sy n="132" d="100"/>
        </p:scale>
        <p:origin x="94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3.xml"/><Relationship Id="rId8" Type="http://schemas.openxmlformats.org/officeDocument/2006/relationships/notesMaster" Target="notesMasters/notesMaster1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font" Target="fonts/font3.fntdata"/><Relationship Id="rId12" Type="http://schemas.openxmlformats.org/officeDocument/2006/relationships/font" Target="fonts/font4.fntdata"/><Relationship Id="rId13" Type="http://schemas.openxmlformats.org/officeDocument/2006/relationships/font" Target="fonts/font5.fntdata"/><Relationship Id="rId14" Type="http://schemas.openxmlformats.org/officeDocument/2006/relationships/font" Target="fonts/font6.fntdata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Generate a simple outline for an AI collections system workflow, including inputs, decision logic, action triggers, and learning loop.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key customer attributes that would be most predictive for collections decision-making, and explain why each one matters.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examples of business rules and AI-driven actions the system could use at different risk levels (e.g., low, medium, high risk).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Create a rough sketch or step-by-step description of how customer data flows through the system from intake to action.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16fb96bf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16fb96bf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Explain how agentic AI could automate financial collections while keeping humans in critical decision points.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examples of collection actions, and classify each as best suited for full automation or requiring human oversight, with a brief reason why.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16fb96bf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16fb96bf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key fairness, transparency, and compliance practices to build into an AI-powered credit collections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specific ways to monitor and audit the system over time to ensure it stays fair, compliant, and effective.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16fb96bf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16fb96bf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KPIs for an AI-powered collections strategy that balances business outcomes with customer fairness.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Describe 2–3 ways an AI collections system could improve both operational efficiency and customer experience.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/>
              <a:t>AI-Powered Collections Strategy</a:t>
            </a:r>
            <a:endParaRPr sz="3000" dirty="0"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Leveraging Agentic AI for Scalable, Fair, and Effective Debt Management at Geldium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the System Works</a:t>
            </a:r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29768" y="1353312"/>
            <a:ext cx="828446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1">
                <a:solidFill>
                  <a:srgbClr val="CFD8DC"/>
                </a:solidFill>
                <a:latin typeface="Arial"/>
              </a:rPr>
              <a:t>A closed loop: customer data drives decisions, decisions drive action, and outcomes drive learning.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29768" y="1810512"/>
            <a:ext cx="1783080" cy="1755648"/>
          </a:xfrm>
          <a:prstGeom prst="roundRect">
            <a:avLst>
              <a:gd name="adj" fmla="val 6000"/>
            </a:avLst>
          </a:prstGeom>
          <a:solidFill>
            <a:srgbClr val="004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092708" y="1901952"/>
            <a:ext cx="457200" cy="457200"/>
          </a:xfrm>
          <a:prstGeom prst="ellipse">
            <a:avLst/>
          </a:prstGeom>
          <a:solidFill>
            <a:srgbClr val="039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21208" y="2432304"/>
            <a:ext cx="1600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Arial"/>
              </a:rPr>
              <a:t>Customer Data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57784" y="2770632"/>
            <a:ext cx="1527048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CFD8DC"/>
                </a:solidFill>
                <a:latin typeface="Arial"/>
              </a:rPr>
              <a:t>Demographics, repayment history, credit utilization, account status, engagement signals</a:t>
            </a:r>
          </a:p>
        </p:txBody>
      </p:sp>
      <p:sp>
        <p:nvSpPr>
          <p:cNvPr id="75" name="Chevron 74"/>
          <p:cNvSpPr/>
          <p:nvPr/>
        </p:nvSpPr>
        <p:spPr>
          <a:xfrm>
            <a:off x="2212848" y="1993392"/>
            <a:ext cx="384048" cy="274320"/>
          </a:xfrm>
          <a:prstGeom prst="chevron">
            <a:avLst/>
          </a:prstGeom>
          <a:solidFill>
            <a:srgbClr val="039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2596896" y="1810512"/>
            <a:ext cx="1783080" cy="1755648"/>
          </a:xfrm>
          <a:prstGeom prst="roundRect">
            <a:avLst>
              <a:gd name="adj" fmla="val 6000"/>
            </a:avLst>
          </a:prstGeom>
          <a:solidFill>
            <a:srgbClr val="004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259836" y="1901952"/>
            <a:ext cx="457200" cy="45720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688336" y="2432304"/>
            <a:ext cx="1600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Arial"/>
              </a:rPr>
              <a:t>AI Decision Engine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724912" y="2770632"/>
            <a:ext cx="1527048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CFD8DC"/>
                </a:solidFill>
                <a:latin typeface="Arial"/>
              </a:rPr>
              <a:t>Risk-prediction model + business rules assign a risk tier and the next best action</a:t>
            </a:r>
          </a:p>
        </p:txBody>
      </p:sp>
      <p:sp>
        <p:nvSpPr>
          <p:cNvPr id="80" name="Chevron 79"/>
          <p:cNvSpPr/>
          <p:nvPr/>
        </p:nvSpPr>
        <p:spPr>
          <a:xfrm>
            <a:off x="4379976" y="1993392"/>
            <a:ext cx="384048" cy="274320"/>
          </a:xfrm>
          <a:prstGeom prst="chevron">
            <a:avLst/>
          </a:prstGeom>
          <a:solidFill>
            <a:srgbClr val="039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4764024" y="1810512"/>
            <a:ext cx="1783080" cy="1755648"/>
          </a:xfrm>
          <a:prstGeom prst="roundRect">
            <a:avLst>
              <a:gd name="adj" fmla="val 6000"/>
            </a:avLst>
          </a:prstGeom>
          <a:solidFill>
            <a:srgbClr val="004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5426964" y="1901952"/>
            <a:ext cx="457200" cy="457200"/>
          </a:xfrm>
          <a:prstGeom prst="ellipse">
            <a:avLst/>
          </a:prstGeom>
          <a:solidFill>
            <a:srgbClr val="55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855464" y="2432304"/>
            <a:ext cx="1600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Arial"/>
              </a:rPr>
              <a:t>Action &amp; Outreach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892040" y="2770632"/>
            <a:ext cx="1527048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CFD8DC"/>
                </a:solidFill>
                <a:latin typeface="Arial"/>
              </a:rPr>
              <a:t>Automated reminders, hardship offers, or escalation to an agent -- matched to risk tier</a:t>
            </a:r>
          </a:p>
        </p:txBody>
      </p:sp>
      <p:sp>
        <p:nvSpPr>
          <p:cNvPr id="85" name="Chevron 84"/>
          <p:cNvSpPr/>
          <p:nvPr/>
        </p:nvSpPr>
        <p:spPr>
          <a:xfrm>
            <a:off x="6547104" y="1993392"/>
            <a:ext cx="384048" cy="274320"/>
          </a:xfrm>
          <a:prstGeom prst="chevron">
            <a:avLst/>
          </a:prstGeom>
          <a:solidFill>
            <a:srgbClr val="039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6931152" y="1810512"/>
            <a:ext cx="1783080" cy="1755648"/>
          </a:xfrm>
          <a:prstGeom prst="roundRect">
            <a:avLst>
              <a:gd name="adj" fmla="val 6000"/>
            </a:avLst>
          </a:prstGeom>
          <a:solidFill>
            <a:srgbClr val="004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7594092" y="1901952"/>
            <a:ext cx="457200" cy="457200"/>
          </a:xfrm>
          <a:prstGeom prst="ellipse">
            <a:avLst/>
          </a:prstGeom>
          <a:solidFill>
            <a:srgbClr val="C7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022592" y="2432304"/>
            <a:ext cx="1600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Arial"/>
              </a:rPr>
              <a:t>Learning Loop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059168" y="2770632"/>
            <a:ext cx="1527048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CFD8DC"/>
                </a:solidFill>
                <a:latin typeface="Arial"/>
              </a:rPr>
              <a:t>Outcomes are tracked and fed back to retrain the model and recalibrate rules</a:t>
            </a:r>
          </a:p>
        </p:txBody>
      </p:sp>
      <p:sp>
        <p:nvSpPr>
          <p:cNvPr id="90" name="Left Arrow 89"/>
          <p:cNvSpPr/>
          <p:nvPr/>
        </p:nvSpPr>
        <p:spPr>
          <a:xfrm>
            <a:off x="2596896" y="3730752"/>
            <a:ext cx="6117336" cy="219456"/>
          </a:xfrm>
          <a:prstGeom prst="leftArrow">
            <a:avLst/>
          </a:prstGeom>
          <a:solidFill>
            <a:srgbClr val="8BC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29768" y="4023360"/>
            <a:ext cx="828446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CFD8DC"/>
                </a:solidFill>
                <a:latin typeface="Arial"/>
              </a:rPr>
              <a:t>Learning loop: outcomes continuously retrain the model and refine business rules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C1373-ECCB-8893-C88B-952E49559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the System Works — In Detail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29768" y="1481328"/>
            <a:ext cx="8284464" cy="713232"/>
          </a:xfrm>
          <a:prstGeom prst="roundRect">
            <a:avLst>
              <a:gd name="adj" fmla="val 6000"/>
            </a:avLst>
          </a:prstGeom>
          <a:solidFill>
            <a:srgbClr val="004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80644" y="1600200"/>
            <a:ext cx="475488" cy="475488"/>
          </a:xfrm>
          <a:prstGeom prst="ellipse">
            <a:avLst/>
          </a:prstGeom>
          <a:solidFill>
            <a:srgbClr val="039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554480"/>
            <a:ext cx="72694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Inputs</a:t>
            </a:r>
          </a:p>
          <a:p>
            <a:pPr algn="l">
              <a:lnSpc>
                <a:spcPct val="108000"/>
              </a:lnSpc>
            </a:pPr>
            <a:r>
              <a:rPr sz="1050">
                <a:solidFill>
                  <a:srgbClr val="CFD8DC"/>
                </a:solidFill>
                <a:latin typeface="Arial"/>
              </a:rPr>
              <a:t>Demographic data, repayment history, credit utilization, account status, and behavioral engagement signals pulled from core banking and collections systems.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" y="2267712"/>
            <a:ext cx="8284464" cy="713232"/>
          </a:xfrm>
          <a:prstGeom prst="roundRect">
            <a:avLst>
              <a:gd name="adj" fmla="val 6000"/>
            </a:avLst>
          </a:prstGeom>
          <a:solidFill>
            <a:srgbClr val="00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80644" y="2386584"/>
            <a:ext cx="475488" cy="475488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340864"/>
            <a:ext cx="72694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Decision Logic</a:t>
            </a:r>
          </a:p>
          <a:p>
            <a:pPr algn="l">
              <a:lnSpc>
                <a:spcPct val="108000"/>
              </a:lnSpc>
            </a:pPr>
            <a:r>
              <a:rPr sz="1050">
                <a:solidFill>
                  <a:srgbClr val="CFD8DC"/>
                </a:solidFill>
                <a:latin typeface="Arial"/>
              </a:rPr>
              <a:t>A hybrid engine — a delinquency-risk prediction model combined with configurable business rules — assigns a risk tier and recommends the next best action.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" y="3054096"/>
            <a:ext cx="8284464" cy="713232"/>
          </a:xfrm>
          <a:prstGeom prst="roundRect">
            <a:avLst>
              <a:gd name="adj" fmla="val 6000"/>
            </a:avLst>
          </a:prstGeom>
          <a:solidFill>
            <a:srgbClr val="004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80644" y="3172968"/>
            <a:ext cx="475488" cy="475488"/>
          </a:xfrm>
          <a:prstGeom prst="ellipse">
            <a:avLst/>
          </a:prstGeom>
          <a:solidFill>
            <a:srgbClr val="558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127248"/>
            <a:ext cx="72694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Actions</a:t>
            </a:r>
          </a:p>
          <a:p>
            <a:pPr algn="l">
              <a:lnSpc>
                <a:spcPct val="108000"/>
              </a:lnSpc>
            </a:pPr>
            <a:r>
              <a:rPr sz="1050">
                <a:solidFill>
                  <a:srgbClr val="CFD8DC"/>
                </a:solidFill>
                <a:latin typeface="Arial"/>
              </a:rPr>
              <a:t>Tiered interventions: automated reminders and self-serve payment links for low risk, personalized hardship or settlement offers for higher risk, and escalation to a human agent for complex cases.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3840480"/>
            <a:ext cx="8284464" cy="713232"/>
          </a:xfrm>
          <a:prstGeom prst="roundRect">
            <a:avLst>
              <a:gd name="adj" fmla="val 6000"/>
            </a:avLst>
          </a:prstGeom>
          <a:solidFill>
            <a:srgbClr val="00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0644" y="3959352"/>
            <a:ext cx="475488" cy="475488"/>
          </a:xfrm>
          <a:prstGeom prst="ellipse">
            <a:avLst/>
          </a:prstGeom>
          <a:solidFill>
            <a:srgbClr val="C7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913632"/>
            <a:ext cx="72694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Learning Loop</a:t>
            </a:r>
          </a:p>
          <a:p>
            <a:pPr algn="l">
              <a:lnSpc>
                <a:spcPct val="108000"/>
              </a:lnSpc>
            </a:pPr>
            <a:r>
              <a:rPr sz="1050">
                <a:solidFill>
                  <a:srgbClr val="CFD8DC"/>
                </a:solidFill>
                <a:latin typeface="Arial"/>
              </a:rPr>
              <a:t>Outcomes — cured, defaulted, disputed — are logged and fed back to retrain the model monthly and recalibrate business rules and thresholds.</a:t>
            </a:r>
          </a:p>
        </p:txBody>
      </p:sp>
    </p:spTree>
    <p:extLst>
      <p:ext uri="{BB962C8B-B14F-4D97-AF65-F5344CB8AC3E}">
        <p14:creationId xmlns:p14="http://schemas.microsoft.com/office/powerpoint/2010/main" val="890219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 of Agentic AI</a:t>
            </a:r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29768" y="1353312"/>
            <a:ext cx="8284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1">
                <a:solidFill>
                  <a:srgbClr val="CFD8DC"/>
                </a:solidFill>
                <a:latin typeface="Arial"/>
              </a:rPr>
              <a:t>The system pairs autonomous execution with human oversight for judgment calls and higher-risk decisions.</a:t>
            </a:r>
          </a:p>
        </p:txBody>
      </p:sp>
      <p:graphicFrame>
        <p:nvGraphicFramePr>
          <p:cNvPr id="83" name="Table 82"/>
          <p:cNvGraphicFramePr>
            <a:graphicFrameLocks noGrp="1"/>
          </p:cNvGraphicFramePr>
          <p:nvPr/>
        </p:nvGraphicFramePr>
        <p:xfrm>
          <a:off x="429768" y="1847088"/>
          <a:ext cx="8284464" cy="2615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2232"/>
                <a:gridCol w="4142232"/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002A3D"/>
                          </a:solidFill>
                          <a:latin typeface="Arial"/>
                        </a:rPr>
                        <a:t>Autonomous</a:t>
                      </a:r>
                    </a:p>
                  </a:txBody>
                  <a:tcPr marL="109728" marR="109728" marT="36576" marB="36576" anchor="ctr">
                    <a:solidFill>
                      <a:srgbClr val="039B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002A3D"/>
                          </a:solidFill>
                          <a:latin typeface="Arial"/>
                        </a:rPr>
                        <a:t>Human Oversight</a:t>
                      </a:r>
                    </a:p>
                  </a:txBody>
                  <a:tcPr marL="109728" marR="109728" marT="36576" marB="36576" anchor="ctr">
                    <a:solidFill>
                      <a:srgbClr val="8BC34A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39BE5"/>
                          </a:solidFill>
                          <a:latin typeface="Arial"/>
                        </a:rPr>
                        <a:t>▸  </a:t>
                      </a:r>
                      <a:r>
                        <a:rPr sz="1150">
                          <a:solidFill>
                            <a:srgbClr val="FFFFFF"/>
                          </a:solidFill>
                          <a:latin typeface="Arial"/>
                        </a:rPr>
                        <a:t>Send scheduled SMS / email payment reminders</a:t>
                      </a:r>
                    </a:p>
                  </a:txBody>
                  <a:tcPr marL="128016" marR="91440" marT="36576" marB="36576" anchor="ctr">
                    <a:solidFill>
                      <a:srgbClr val="00406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8BC34A"/>
                          </a:solidFill>
                          <a:latin typeface="Arial"/>
                        </a:rPr>
                        <a:t>✓  </a:t>
                      </a:r>
                      <a:r>
                        <a:rPr sz="1150">
                          <a:solidFill>
                            <a:srgbClr val="FFFFFF"/>
                          </a:solidFill>
                          <a:latin typeface="Arial"/>
                        </a:rPr>
                        <a:t>Approve hardship plans, settlements, and forbearance terms</a:t>
                      </a:r>
                    </a:p>
                  </a:txBody>
                  <a:tcPr marL="128016" marR="91440" marT="36576" marB="36576" anchor="ctr">
                    <a:solidFill>
                      <a:srgbClr val="004065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39BE5"/>
                          </a:solidFill>
                          <a:latin typeface="Arial"/>
                        </a:rPr>
                        <a:t>▸  </a:t>
                      </a:r>
                      <a:r>
                        <a:rPr sz="1150">
                          <a:solidFill>
                            <a:srgbClr val="FFFFFF"/>
                          </a:solidFill>
                          <a:latin typeface="Arial"/>
                        </a:rPr>
                        <a:t>Score and segment accounts by delinquency risk daily</a:t>
                      </a:r>
                    </a:p>
                  </a:txBody>
                  <a:tcPr marL="128016" marR="91440" marT="36576" marB="36576" anchor="ctr">
                    <a:solidFill>
                      <a:srgbClr val="003A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8BC34A"/>
                          </a:solidFill>
                          <a:latin typeface="Arial"/>
                        </a:rPr>
                        <a:t>✓  </a:t>
                      </a:r>
                      <a:r>
                        <a:rPr sz="1150">
                          <a:solidFill>
                            <a:srgbClr val="FFFFFF"/>
                          </a:solidFill>
                          <a:latin typeface="Arial"/>
                        </a:rPr>
                        <a:t>Review accounts flagged for bias risk or model uncertainty</a:t>
                      </a:r>
                    </a:p>
                  </a:txBody>
                  <a:tcPr marL="128016" marR="91440" marT="36576" marB="36576" anchor="ctr">
                    <a:solidFill>
                      <a:srgbClr val="003A5C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39BE5"/>
                          </a:solidFill>
                          <a:latin typeface="Arial"/>
                        </a:rPr>
                        <a:t>▸  </a:t>
                      </a:r>
                      <a:r>
                        <a:rPr sz="1150">
                          <a:solidFill>
                            <a:srgbClr val="FFFFFF"/>
                          </a:solidFill>
                          <a:latin typeface="Arial"/>
                        </a:rPr>
                        <a:t>Trigger self-serve payment links and auto-confirm receipts</a:t>
                      </a:r>
                    </a:p>
                  </a:txBody>
                  <a:tcPr marL="128016" marR="91440" marT="36576" marB="36576" anchor="ctr">
                    <a:solidFill>
                      <a:srgbClr val="00406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8BC34A"/>
                          </a:solidFill>
                          <a:latin typeface="Arial"/>
                        </a:rPr>
                        <a:t>✓  </a:t>
                      </a:r>
                      <a:r>
                        <a:rPr sz="1150">
                          <a:solidFill>
                            <a:srgbClr val="FFFFFF"/>
                          </a:solidFill>
                          <a:latin typeface="Arial"/>
                        </a:rPr>
                        <a:t>Handle disputes, complaints, and legally sensitive cases</a:t>
                      </a:r>
                    </a:p>
                  </a:txBody>
                  <a:tcPr marL="128016" marR="91440" marT="36576" marB="36576" anchor="ctr">
                    <a:solidFill>
                      <a:srgbClr val="004065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39BE5"/>
                          </a:solidFill>
                          <a:latin typeface="Arial"/>
                        </a:rPr>
                        <a:t>▸  </a:t>
                      </a:r>
                      <a:r>
                        <a:rPr sz="1150">
                          <a:solidFill>
                            <a:srgbClr val="FFFFFF"/>
                          </a:solidFill>
                          <a:latin typeface="Arial"/>
                        </a:rPr>
                        <a:t>Route low-risk, low-balance accounts through standard workflows</a:t>
                      </a:r>
                    </a:p>
                  </a:txBody>
                  <a:tcPr marL="128016" marR="91440" marT="36576" marB="36576" anchor="ctr">
                    <a:solidFill>
                      <a:srgbClr val="003A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8BC34A"/>
                          </a:solidFill>
                          <a:latin typeface="Arial"/>
                        </a:rPr>
                        <a:t>✓  </a:t>
                      </a:r>
                      <a:r>
                        <a:rPr sz="1150">
                          <a:solidFill>
                            <a:srgbClr val="FFFFFF"/>
                          </a:solidFill>
                          <a:latin typeface="Arial"/>
                        </a:rPr>
                        <a:t>Approve actions affecting a customer's credit reporting</a:t>
                      </a:r>
                    </a:p>
                  </a:txBody>
                  <a:tcPr marL="128016" marR="91440" marT="36576" marB="36576" anchor="ctr">
                    <a:solidFill>
                      <a:srgbClr val="003A5C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39BE5"/>
                          </a:solidFill>
                          <a:latin typeface="Arial"/>
                        </a:rPr>
                        <a:t>▸  </a:t>
                      </a:r>
                      <a:r>
                        <a:rPr sz="1150">
                          <a:solidFill>
                            <a:srgbClr val="FFFFFF"/>
                          </a:solidFill>
                          <a:latin typeface="Arial"/>
                        </a:rPr>
                        <a:t>Flag anomalies or high-risk accounts for review</a:t>
                      </a:r>
                    </a:p>
                  </a:txBody>
                  <a:tcPr marL="128016" marR="91440" marT="36576" marB="36576" anchor="ctr">
                    <a:solidFill>
                      <a:srgbClr val="00406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8BC34A"/>
                          </a:solidFill>
                          <a:latin typeface="Arial"/>
                        </a:rPr>
                        <a:t>✓  </a:t>
                      </a:r>
                      <a:r>
                        <a:rPr sz="1150">
                          <a:solidFill>
                            <a:srgbClr val="FFFFFF"/>
                          </a:solidFill>
                          <a:latin typeface="Arial"/>
                        </a:rPr>
                        <a:t>Periodic audit of model decisions and any overrides</a:t>
                      </a:r>
                    </a:p>
                  </a:txBody>
                  <a:tcPr marL="128016" marR="91440" marT="36576" marB="36576" anchor="ctr">
                    <a:solidFill>
                      <a:srgbClr val="00406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Responsible AI Guardrails</a:t>
            </a:r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429768" y="1353312"/>
            <a:ext cx="8284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1">
                <a:solidFill>
                  <a:srgbClr val="CFD8DC"/>
                </a:solidFill>
                <a:latin typeface="Arial"/>
              </a:rPr>
              <a:t>Guardrails built into every stage of the workflow to keep decisions fair, transparent, and compliant.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29768" y="1801368"/>
            <a:ext cx="4005072" cy="1234440"/>
          </a:xfrm>
          <a:prstGeom prst="roundRect">
            <a:avLst>
              <a:gd name="adj" fmla="val 6000"/>
            </a:avLst>
          </a:prstGeom>
          <a:solidFill>
            <a:srgbClr val="004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557784" y="1901952"/>
            <a:ext cx="384048" cy="384048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96696" y="1901952"/>
            <a:ext cx="32735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Fairness &amp; Bias Monitoring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12648" y="2295144"/>
            <a:ext cx="3639312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CFD8DC"/>
                </a:solidFill>
                <a:latin typeface="Arial"/>
              </a:rPr>
              <a:t>Regular disparate-impact testing across protected classes; variables that act as proxies for protected attributes are excluded.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4709160" y="1801368"/>
            <a:ext cx="4005072" cy="1234440"/>
          </a:xfrm>
          <a:prstGeom prst="roundRect">
            <a:avLst>
              <a:gd name="adj" fmla="val 6000"/>
            </a:avLst>
          </a:prstGeom>
          <a:solidFill>
            <a:srgbClr val="00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4837176" y="1901952"/>
            <a:ext cx="384048" cy="384048"/>
          </a:xfrm>
          <a:prstGeom prst="ellipse">
            <a:avLst/>
          </a:prstGeom>
          <a:solidFill>
            <a:srgbClr val="039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276088" y="1901952"/>
            <a:ext cx="32735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Explainability &amp; Transparency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892040" y="2295144"/>
            <a:ext cx="3639312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CFD8DC"/>
                </a:solidFill>
                <a:latin typeface="Arial"/>
              </a:rPr>
              <a:t>Every automated decision carries a plain-language reason code that customers and agents can request at any time.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429768" y="3264408"/>
            <a:ext cx="4005072" cy="1234440"/>
          </a:xfrm>
          <a:prstGeom prst="roundRect">
            <a:avLst>
              <a:gd name="adj" fmla="val 6000"/>
            </a:avLst>
          </a:prstGeom>
          <a:solidFill>
            <a:srgbClr val="004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557784" y="3364992"/>
            <a:ext cx="384048" cy="384048"/>
          </a:xfrm>
          <a:prstGeom prst="ellipse">
            <a:avLst/>
          </a:prstGeom>
          <a:solidFill>
            <a:srgbClr val="8BC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96696" y="3364992"/>
            <a:ext cx="32735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Regulatory Compliance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12648" y="3758184"/>
            <a:ext cx="3639312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CFD8DC"/>
                </a:solidFill>
                <a:latin typeface="Arial"/>
              </a:rPr>
              <a:t>Aligned to ECOA/Reg B, FDCPA, FCRA, and applicable data-privacy laws, with a full audit trail for every action taken.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4709160" y="3264408"/>
            <a:ext cx="4005072" cy="1234440"/>
          </a:xfrm>
          <a:prstGeom prst="roundRect">
            <a:avLst>
              <a:gd name="adj" fmla="val 6000"/>
            </a:avLst>
          </a:prstGeom>
          <a:solidFill>
            <a:srgbClr val="00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4837176" y="3364992"/>
            <a:ext cx="384048" cy="384048"/>
          </a:xfrm>
          <a:prstGeom prst="ellipse">
            <a:avLst/>
          </a:prstGeom>
          <a:solidFill>
            <a:srgbClr val="C7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276088" y="3364992"/>
            <a:ext cx="32735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Human-in-the-Loop Oversight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892040" y="3758184"/>
            <a:ext cx="3639312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CFD8DC"/>
                </a:solidFill>
                <a:latin typeface="Arial"/>
              </a:rPr>
              <a:t>Hard stops route hardship requests, disputes, and high-risk decisions to a trained agent before any action is finalized.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 Business Impact</a:t>
            </a:r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429768" y="1353312"/>
            <a:ext cx="82844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1">
                <a:solidFill>
                  <a:srgbClr val="CFD8DC"/>
                </a:solidFill>
                <a:latin typeface="Arial"/>
              </a:rPr>
              <a:t>A measurable lift in collections performance, paired with a fairer, more scalable customer experience.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429768" y="1801368"/>
            <a:ext cx="3959352" cy="2670048"/>
          </a:xfrm>
          <a:prstGeom prst="roundRect">
            <a:avLst>
              <a:gd name="adj" fmla="val 6000"/>
            </a:avLst>
          </a:prstGeom>
          <a:solidFill>
            <a:srgbClr val="004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4754880" y="1801368"/>
            <a:ext cx="3959352" cy="2670048"/>
          </a:xfrm>
          <a:prstGeom prst="roundRect">
            <a:avLst>
              <a:gd name="adj" fmla="val 6000"/>
            </a:avLst>
          </a:prstGeom>
          <a:solidFill>
            <a:srgbClr val="004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49224" y="1965960"/>
            <a:ext cx="3520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39BE5"/>
                </a:solidFill>
                <a:latin typeface="Arial"/>
              </a:rPr>
              <a:t>Business KPIs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974336" y="1965960"/>
            <a:ext cx="3520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8BC34A"/>
                </a:solidFill>
                <a:latin typeface="Arial"/>
              </a:rPr>
              <a:t>Customer Outcomes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49224" y="2404872"/>
            <a:ext cx="3520440" cy="1938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150" b="1">
                <a:solidFill>
                  <a:srgbClr val="039BE5"/>
                </a:solidFill>
                <a:latin typeface="Arial"/>
              </a:rPr>
              <a:t>•  </a:t>
            </a:r>
            <a:r>
              <a:rPr sz="1150">
                <a:solidFill>
                  <a:srgbClr val="FFFFFF"/>
                </a:solidFill>
                <a:latin typeface="Arial"/>
              </a:rPr>
              <a:t>Reduced 30 / 60 / 90-day delinquency rates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150" b="1">
                <a:solidFill>
                  <a:srgbClr val="039BE5"/>
                </a:solidFill>
                <a:latin typeface="Arial"/>
              </a:rPr>
              <a:t>•  </a:t>
            </a:r>
            <a:r>
              <a:rPr sz="1150">
                <a:solidFill>
                  <a:srgbClr val="FFFFFF"/>
                </a:solidFill>
                <a:latin typeface="Arial"/>
              </a:rPr>
              <a:t>Higher on-time repayment and cure rates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150" b="1">
                <a:solidFill>
                  <a:srgbClr val="039BE5"/>
                </a:solidFill>
                <a:latin typeface="Arial"/>
              </a:rPr>
              <a:t>•  </a:t>
            </a:r>
            <a:r>
              <a:rPr sz="1150">
                <a:solidFill>
                  <a:srgbClr val="FFFFFF"/>
                </a:solidFill>
                <a:latin typeface="Arial"/>
              </a:rPr>
              <a:t>Lower cost-to-collect through automation of routine outreach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150" b="1">
                <a:solidFill>
                  <a:srgbClr val="039BE5"/>
                </a:solidFill>
                <a:latin typeface="Arial"/>
              </a:rPr>
              <a:t>•  </a:t>
            </a:r>
            <a:r>
              <a:rPr sz="1150">
                <a:solidFill>
                  <a:srgbClr val="FFFFFF"/>
                </a:solidFill>
                <a:latin typeface="Arial"/>
              </a:rPr>
              <a:t>Fewer accounts escalated to write-off or third-party recovery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150" b="1">
                <a:solidFill>
                  <a:srgbClr val="039BE5"/>
                </a:solidFill>
                <a:latin typeface="Arial"/>
              </a:rPr>
              <a:t>•  </a:t>
            </a:r>
            <a:r>
              <a:rPr sz="1150">
                <a:solidFill>
                  <a:srgbClr val="FFFFFF"/>
                </a:solidFill>
                <a:latin typeface="Arial"/>
              </a:rPr>
              <a:t>Faster, risk-prioritized queues for collections agents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974336" y="2404872"/>
            <a:ext cx="3520440" cy="1938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150" b="1">
                <a:solidFill>
                  <a:srgbClr val="8BC34A"/>
                </a:solidFill>
                <a:latin typeface="Arial"/>
              </a:rPr>
              <a:t>•  </a:t>
            </a:r>
            <a:r>
              <a:rPr sz="1150">
                <a:solidFill>
                  <a:srgbClr val="FFFFFF"/>
                </a:solidFill>
                <a:latin typeface="Arial"/>
              </a:rPr>
              <a:t>More personalized, timely, less repetitive outreach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150" b="1">
                <a:solidFill>
                  <a:srgbClr val="8BC34A"/>
                </a:solidFill>
                <a:latin typeface="Arial"/>
              </a:rPr>
              <a:t>•  </a:t>
            </a:r>
            <a:r>
              <a:rPr sz="1150">
                <a:solidFill>
                  <a:srgbClr val="FFFFFF"/>
                </a:solidFill>
                <a:latin typeface="Arial"/>
              </a:rPr>
              <a:t>Consistent, fair treatment across customer segments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150" b="1">
                <a:solidFill>
                  <a:srgbClr val="8BC34A"/>
                </a:solidFill>
                <a:latin typeface="Arial"/>
              </a:rPr>
              <a:t>•  </a:t>
            </a:r>
            <a:r>
              <a:rPr sz="1150">
                <a:solidFill>
                  <a:srgbClr val="FFFFFF"/>
                </a:solidFill>
                <a:latin typeface="Arial"/>
              </a:rPr>
              <a:t>Clear, plain-language explanations of options and decisions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150" b="1">
                <a:solidFill>
                  <a:srgbClr val="8BC34A"/>
                </a:solidFill>
                <a:latin typeface="Arial"/>
              </a:rPr>
              <a:t>•  </a:t>
            </a:r>
            <a:r>
              <a:rPr sz="1150">
                <a:solidFill>
                  <a:srgbClr val="FFFFFF"/>
                </a:solidFill>
                <a:latin typeface="Arial"/>
              </a:rPr>
              <a:t>Flexible hardship support reachable earlier in the cycle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150" b="1">
                <a:solidFill>
                  <a:srgbClr val="8BC34A"/>
                </a:solidFill>
                <a:latin typeface="Arial"/>
              </a:rPr>
              <a:t>•  </a:t>
            </a:r>
            <a:r>
              <a:rPr sz="1150">
                <a:solidFill>
                  <a:srgbClr val="FFFFFF"/>
                </a:solidFill>
                <a:latin typeface="Arial"/>
              </a:rPr>
              <a:t>Greater trust and satisfaction with the collections process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473</Words>
  <Application>Microsoft Macintosh PowerPoint</Application>
  <PresentationFormat>On-screen Show (16:9)</PresentationFormat>
  <Paragraphs>36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Roboto Slab</vt:lpstr>
      <vt:lpstr>Roboto</vt:lpstr>
      <vt:lpstr>Marina</vt:lpstr>
      <vt:lpstr>AI-Powered Collections Strategy</vt:lpstr>
      <vt:lpstr>How the System Works</vt:lpstr>
      <vt:lpstr>Role of Agentic AI</vt:lpstr>
      <vt:lpstr>Responsible AI Guardrails</vt:lpstr>
      <vt:lpstr>Expected Business Impact</vt:lpstr>
      <vt:lpstr>[Feel free to add more slides throughout]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Tran, Tammy</cp:lastModifiedBy>
  <cp:revision>2</cp:revision>
  <dcterms:modified xsi:type="dcterms:W3CDTF">2025-04-29T13:27:36Z</dcterms:modified>
</cp:coreProperties>
</file>